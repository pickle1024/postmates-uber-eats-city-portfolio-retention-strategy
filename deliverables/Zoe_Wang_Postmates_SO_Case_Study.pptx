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98"/>
    <p:restoredTop sz="74154"/>
  </p:normalViewPr>
  <p:slideViewPr>
    <p:cSldViewPr snapToGrid="0" snapToObjects="1">
      <p:cViewPr varScale="1">
        <p:scale>
          <a:sx n="81" d="100"/>
          <a:sy n="81" d="100"/>
        </p:scale>
        <p:origin x="1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0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>
              <a:spcBef>
                <a:spcPts val="400"/>
              </a:spcBef>
              <a:spcAft>
                <a:spcPts val="500"/>
              </a:spcAft>
              <a:buNone/>
            </a:pPr>
            <a:endParaRPr lang="en-US" sz="1800" kern="1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l">
              <a:spcBef>
                <a:spcPts val="500"/>
              </a:spcBef>
              <a:spcAft>
                <a:spcPts val="5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552872E-5DF9-F873-ADBF-F95893A651C0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9861226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city_dashboard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ltv_calculator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38" y="361864"/>
            <a:ext cx="11460177" cy="1403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Playbook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for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Uber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Eats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&amp;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Postmates</a:t>
            </a:r>
            <a:r>
              <a:rPr lang="zh-CN" altLang="en-US" sz="4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4000" b="1" dirty="0">
                <a:solidFill>
                  <a:srgbClr val="1A1A1A"/>
                </a:solidFill>
                <a:latin typeface="Helvetica" pitchFamily="34" charset="0"/>
              </a:rPr>
              <a:t>Portfolio</a:t>
            </a:r>
            <a:endParaRPr lang="en-US" sz="3200" b="1" dirty="0">
              <a:solidFill>
                <a:srgbClr val="1A1A1A"/>
              </a:solidFill>
              <a:latin typeface="Helvetica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82365"/>
            <a:ext cx="1828800" cy="73152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24840" y="243839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Zoe Wang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4840" y="280415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14, 2026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39" y="3352515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97671"/>
            <a:ext cx="351525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548640" y="3697671"/>
            <a:ext cx="91440" cy="219456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2966618" y="3834831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4F4E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" y="3926271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4749231"/>
            <a:ext cx="2966618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822960" y="4840671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</a:t>
            </a: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Why this role ·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218" y="3697671"/>
            <a:ext cx="351525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338218" y="3697671"/>
            <a:ext cx="91440" cy="219456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756197" y="3834831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4F4E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12538" y="3926271"/>
            <a:ext cx="2499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Case walkthrough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612538" y="4749231"/>
            <a:ext cx="2966618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4612538" y="4840671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Ms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 → Move → Multiply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2538" y="5095234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diagnosis → LA retention pilot → Uber</a:t>
            </a:r>
            <a:r>
              <a:rPr lang="zh-CN" alt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zh-CN" alt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27797" y="3697671"/>
            <a:ext cx="3515258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28" name="Shape 26"/>
          <p:cNvSpPr/>
          <p:nvPr/>
        </p:nvSpPr>
        <p:spPr>
          <a:xfrm>
            <a:off x="8127797" y="3697671"/>
            <a:ext cx="91440" cy="219456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10545775" y="3834831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D4F4E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402117" y="3926271"/>
            <a:ext cx="2143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1A1A1A"/>
                </a:solidFill>
                <a:latin typeface="Helvetica" pitchFamily="34" charset="0"/>
              </a:rPr>
              <a:t>LTV</a:t>
            </a:r>
            <a:r>
              <a:rPr lang="zh-CN" altLang="en-US" sz="20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2000" b="1" dirty="0">
                <a:solidFill>
                  <a:srgbClr val="1A1A1A"/>
                </a:solidFill>
                <a:latin typeface="Helvetica" pitchFamily="34" charset="0"/>
              </a:rPr>
              <a:t>calculator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02117" y="4749231"/>
            <a:ext cx="2966618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8402117" y="4840671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</a:rPr>
              <a:t>User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</a:rPr>
              <a:t>side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</a:rPr>
              <a:t>·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</a:rPr>
              <a:t>Merchant</a:t>
            </a:r>
            <a:r>
              <a:rPr lang="zh-CN" altLang="en-US" sz="1300" b="1" dirty="0">
                <a:solidFill>
                  <a:srgbClr val="1A1A1A"/>
                </a:solidFill>
                <a:latin typeface="Helvetica" pitchFamily="34" charset="0"/>
              </a:rPr>
              <a:t> </a:t>
            </a:r>
            <a:r>
              <a:rPr lang="en-US" altLang="zh-CN" sz="1300" b="1" dirty="0">
                <a:solidFill>
                  <a:srgbClr val="1A1A1A"/>
                </a:solidFill>
                <a:latin typeface="Helvetica" pitchFamily="34" charset="0"/>
              </a:rPr>
              <a:t>side</a:t>
            </a:r>
            <a:endParaRPr lang="en-US" sz="13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E6073799-AD47-689D-AF99-E4EFA173F9BE}"/>
              </a:ext>
            </a:extLst>
          </p:cNvPr>
          <p:cNvSpPr/>
          <p:nvPr/>
        </p:nvSpPr>
        <p:spPr>
          <a:xfrm>
            <a:off x="563882" y="1553292"/>
            <a:ext cx="10713413" cy="373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48A47"/>
                </a:solidFill>
                <a:latin typeface="Helvetica" pitchFamily="34" charset="0"/>
              </a:rPr>
              <a:t>Uber</a:t>
            </a:r>
            <a:r>
              <a:rPr lang="zh-CN" altLang="en-US" sz="1600" b="1" kern="0" spc="300" dirty="0">
                <a:solidFill>
                  <a:srgbClr val="048A47"/>
                </a:solidFill>
                <a:latin typeface="Helvetica" pitchFamily="34" charset="0"/>
              </a:rPr>
              <a:t> </a:t>
            </a:r>
            <a:r>
              <a:rPr lang="en-US" altLang="zh-CN" sz="1600" b="1" kern="0" spc="300" dirty="0">
                <a:solidFill>
                  <a:srgbClr val="048A47"/>
                </a:solidFill>
                <a:latin typeface="Helvetica" pitchFamily="34" charset="0"/>
              </a:rPr>
              <a:t>·</a:t>
            </a:r>
            <a:r>
              <a:rPr lang="zh-CN" altLang="en-US" sz="1600" b="1" kern="0" spc="300" dirty="0">
                <a:solidFill>
                  <a:srgbClr val="048A47"/>
                </a:solidFill>
                <a:latin typeface="Helvetica" pitchFamily="34" charset="0"/>
              </a:rPr>
              <a:t> </a:t>
            </a:r>
            <a:r>
              <a:rPr lang="en-US" altLang="zh-CN" sz="1600" b="1" kern="0" spc="300" dirty="0">
                <a:solidFill>
                  <a:srgbClr val="048A47"/>
                </a:solidFill>
                <a:latin typeface="Helvetica" pitchFamily="34" charset="0"/>
              </a:rPr>
              <a:t>2026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US" sz="1600" b="1" kern="0" spc="300" dirty="0">
                <a:solidFill>
                  <a:srgbClr val="048A47"/>
                </a:solidFill>
                <a:latin typeface="Helvetica" pitchFamily="34" charset="0"/>
              </a:rPr>
              <a:t>Strategy &amp; Operations Analyst Intern - West &amp; Postmates</a:t>
            </a:r>
            <a:r>
              <a:rPr lang="zh-CN" altLang="en-US" sz="1600" b="1" kern="0" spc="300" dirty="0">
                <a:solidFill>
                  <a:srgbClr val="048A47"/>
                </a:solidFill>
                <a:latin typeface="Helvetica" pitchFamily="34" charset="0"/>
              </a:rPr>
              <a:t> </a:t>
            </a:r>
            <a:endParaRPr lang="en-US" sz="1600" b="1" kern="0" spc="300" dirty="0">
              <a:solidFill>
                <a:srgbClr val="048A47"/>
              </a:solidFill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34777818-F313-2A90-5599-5E5D5F8457B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3733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22"/>
          <p:cNvSpPr/>
          <p:nvPr/>
        </p:nvSpPr>
        <p:spPr>
          <a:xfrm>
            <a:off x="548638" y="242725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 PROJECT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38" y="2759150"/>
            <a:ext cx="541004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548638" y="2759150"/>
            <a:ext cx="73152" cy="182880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822958" y="3033470"/>
            <a:ext cx="411480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822958" y="303347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C16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6" y="2759089"/>
            <a:ext cx="541004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 dirty="0"/>
          </a:p>
        </p:txBody>
      </p:sp>
      <p:sp>
        <p:nvSpPr>
          <p:cNvPr id="33" name="Shape 31"/>
          <p:cNvSpPr/>
          <p:nvPr/>
        </p:nvSpPr>
        <p:spPr>
          <a:xfrm>
            <a:off x="6233006" y="2759150"/>
            <a:ext cx="73152" cy="182880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6507326" y="3033470"/>
            <a:ext cx="411480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507326" y="303347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800" b="1" dirty="0">
                <a:solidFill>
                  <a:srgbClr val="06C167"/>
                </a:solidFill>
                <a:latin typeface="Helvetica" pitchFamily="34" charset="0"/>
              </a:rPr>
              <a:t>B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49020" y="3003359"/>
            <a:ext cx="440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Previously · Founder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49020" y="3231988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TUTU</a:t>
            </a:r>
            <a:r>
              <a:rPr lang="zh-CN" alt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Academy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2958" y="3555172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Grew from 0 → 70K </a:t>
            </a:r>
            <a:r>
              <a:rPr lang="en-US" altLang="zh-CN" sz="1200" dirty="0"/>
              <a:t>followers</a:t>
            </a:r>
            <a:r>
              <a:rPr lang="zh-CN" altLang="en-US" sz="1200" dirty="0"/>
              <a:t> </a:t>
            </a:r>
            <a:r>
              <a:rPr lang="en-US" altLang="zh-CN" sz="1200" dirty="0"/>
              <a:t>through</a:t>
            </a:r>
            <a:r>
              <a:rPr lang="zh-CN" altLang="en-US" sz="1200" dirty="0"/>
              <a:t> </a:t>
            </a:r>
            <a:r>
              <a:rPr lang="en-US" altLang="zh-CN" sz="1200" dirty="0"/>
              <a:t>content</a:t>
            </a:r>
            <a:r>
              <a:rPr lang="zh-CN" altLang="en-US" sz="1200" dirty="0"/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3,000+ paying users · 1,600-member community</a:t>
            </a:r>
            <a:r>
              <a:rPr lang="zh-CN" altLang="en-US" sz="1200" dirty="0"/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Iterated product directly from user feedback loops</a:t>
            </a:r>
            <a:endParaRPr lang="en-US" sz="1150" dirty="0"/>
          </a:p>
        </p:txBody>
      </p:sp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1 · 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–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Left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brain: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data.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Right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brain: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story.</a:t>
            </a:r>
            <a:r>
              <a:rPr lang="zh-CN" alt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48639" y="1417320"/>
            <a:ext cx="5005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b="1" kern="0" spc="6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</a:t>
            </a:r>
            <a:r>
              <a:rPr lang="zh-CN" altLang="en-US" sz="1000" b="1" kern="0" spc="6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000" b="1" kern="0" spc="6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</a:t>
            </a:r>
          </a:p>
        </p:txBody>
      </p:sp>
      <p:sp>
        <p:nvSpPr>
          <p:cNvPr id="7" name="Text 5"/>
          <p:cNvSpPr/>
          <p:nvPr/>
        </p:nvSpPr>
        <p:spPr>
          <a:xfrm>
            <a:off x="548639" y="1703492"/>
            <a:ext cx="10957255" cy="70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MS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BA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@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Santa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Clara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University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·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·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RedNote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zh-CN" sz="1400" dirty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5112FF-01DE-1186-BEA1-CADF8B18D4A7}"/>
              </a:ext>
            </a:extLst>
          </p:cNvPr>
          <p:cNvGrpSpPr/>
          <p:nvPr/>
        </p:nvGrpSpPr>
        <p:grpSpPr>
          <a:xfrm>
            <a:off x="548639" y="4727419"/>
            <a:ext cx="11185855" cy="1867521"/>
            <a:chOff x="548640" y="2423724"/>
            <a:chExt cx="11185855" cy="1867521"/>
          </a:xfrm>
        </p:grpSpPr>
        <p:sp>
          <p:nvSpPr>
            <p:cNvPr id="40" name="Shape 12">
              <a:extLst>
                <a:ext uri="{FF2B5EF4-FFF2-40B4-BE49-F238E27FC236}">
                  <a16:creationId xmlns:a16="http://schemas.microsoft.com/office/drawing/2014/main" id="{A04EC9C5-DF25-6825-268D-9A151716464F}"/>
                </a:ext>
              </a:extLst>
            </p:cNvPr>
            <p:cNvSpPr/>
            <p:nvPr/>
          </p:nvSpPr>
          <p:spPr>
            <a:xfrm>
              <a:off x="548640" y="2753074"/>
              <a:ext cx="3545738" cy="15360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423724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600" dirty="0">
                  <a:solidFill>
                    <a:srgbClr val="048A47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WHY THIS ROLE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2761880"/>
              <a:ext cx="3545738" cy="1448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endParaRPr lang="en-CN" sz="1200"/>
            </a:p>
          </p:txBody>
        </p:sp>
        <p:sp>
          <p:nvSpPr>
            <p:cNvPr id="10" name="Shape 8"/>
            <p:cNvSpPr/>
            <p:nvPr/>
          </p:nvSpPr>
          <p:spPr>
            <a:xfrm>
              <a:off x="822960" y="2928900"/>
              <a:ext cx="548640" cy="548640"/>
            </a:xfrm>
            <a:prstGeom prst="ellipse">
              <a:avLst/>
            </a:prstGeom>
            <a:solidFill>
              <a:srgbClr val="06C167"/>
            </a:solidFill>
            <a:ln/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Text 9"/>
            <p:cNvSpPr/>
            <p:nvPr/>
          </p:nvSpPr>
          <p:spPr>
            <a:xfrm>
              <a:off x="822960" y="29289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508760" y="3063662"/>
              <a:ext cx="244845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A1A1A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Why S&amp;O</a:t>
              </a:r>
              <a:endParaRPr lang="en-US" sz="17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22960" y="3523260"/>
              <a:ext cx="308853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/>
                <a:t>The S&amp;O playbook: strategy → ops → </a:t>
              </a:r>
              <a:r>
                <a:rPr lang="en-US" altLang="zh-CN" sz="1200" dirty="0"/>
                <a:t>impact</a:t>
              </a:r>
              <a:r>
                <a:rPr lang="en-US" sz="1200" dirty="0"/>
                <a:t>. </a:t>
              </a:r>
            </a:p>
            <a:p>
              <a:r>
                <a:rPr lang="en-US" sz="1200" dirty="0"/>
                <a:t>I love that the role </a:t>
              </a:r>
              <a:r>
                <a:rPr lang="en-US" altLang="zh-CN" sz="1200" dirty="0"/>
                <a:t>is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close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to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business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and</a:t>
              </a:r>
              <a:r>
                <a:rPr lang="zh-CN" altLang="en-US" sz="1200" dirty="0"/>
                <a:t> </a:t>
              </a:r>
              <a:r>
                <a:rPr lang="en-US" sz="1200" dirty="0"/>
                <a:t>owns the call AND the result.</a:t>
              </a:r>
            </a:p>
          </p:txBody>
        </p:sp>
        <p:sp>
          <p:nvSpPr>
            <p:cNvPr id="14" name="Shape 12"/>
            <p:cNvSpPr/>
            <p:nvPr/>
          </p:nvSpPr>
          <p:spPr>
            <a:xfrm>
              <a:off x="4322978" y="2761880"/>
              <a:ext cx="3545738" cy="1527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Shape 13"/>
            <p:cNvSpPr/>
            <p:nvPr/>
          </p:nvSpPr>
          <p:spPr>
            <a:xfrm>
              <a:off x="4597298" y="2928900"/>
              <a:ext cx="548640" cy="548640"/>
            </a:xfrm>
            <a:prstGeom prst="ellipse">
              <a:avLst/>
            </a:prstGeom>
            <a:solidFill>
              <a:srgbClr val="06C167"/>
            </a:solidFill>
            <a:ln/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Text 14"/>
            <p:cNvSpPr/>
            <p:nvPr/>
          </p:nvSpPr>
          <p:spPr>
            <a:xfrm>
              <a:off x="4597298" y="29289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2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283098" y="3052233"/>
              <a:ext cx="244845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A1A1A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Why Uber West</a:t>
              </a:r>
              <a:endParaRPr lang="en-US" sz="17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643018" y="3523259"/>
              <a:ext cx="3088538" cy="557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/>
                <a:t>Eats × PM is a real portfolio puzzle</a:t>
              </a:r>
              <a:r>
                <a:rPr lang="en-US" altLang="zh-CN" sz="1200" dirty="0"/>
                <a:t>.</a:t>
              </a:r>
              <a:r>
                <a:rPr lang="en-US" sz="1200" dirty="0"/>
                <a:t> </a:t>
              </a:r>
            </a:p>
            <a:p>
              <a:r>
                <a:rPr lang="en-US" altLang="zh-CN" sz="1200" dirty="0"/>
                <a:t>A</a:t>
              </a:r>
              <a:r>
                <a:rPr lang="en-US" sz="1200" dirty="0"/>
                <a:t>t Uber, </a:t>
              </a:r>
              <a:r>
                <a:rPr lang="en-US" altLang="zh-CN" sz="1200" dirty="0"/>
                <a:t>there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are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best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practices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in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dealing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with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massive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data.</a:t>
              </a:r>
              <a:endParaRPr lang="en-US" sz="1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097317" y="2761877"/>
              <a:ext cx="3545738" cy="15272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Shape 18"/>
            <p:cNvSpPr/>
            <p:nvPr/>
          </p:nvSpPr>
          <p:spPr>
            <a:xfrm>
              <a:off x="8371637" y="2928900"/>
              <a:ext cx="548640" cy="548640"/>
            </a:xfrm>
            <a:prstGeom prst="ellipse">
              <a:avLst/>
            </a:prstGeom>
            <a:solidFill>
              <a:srgbClr val="06C167"/>
            </a:solidFill>
            <a:ln/>
          </p:spPr>
          <p:txBody>
            <a:bodyPr/>
            <a:lstStyle/>
            <a:p>
              <a:endParaRPr lang="en-CN"/>
            </a:p>
          </p:txBody>
        </p:sp>
        <p:sp>
          <p:nvSpPr>
            <p:cNvPr id="21" name="Text 19"/>
            <p:cNvSpPr/>
            <p:nvPr/>
          </p:nvSpPr>
          <p:spPr>
            <a:xfrm>
              <a:off x="8371637" y="292890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057437" y="3052233"/>
              <a:ext cx="244845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A1A1A"/>
                  </a:solidFill>
                  <a:latin typeface="Helvetica" pitchFamily="34" charset="0"/>
                  <a:ea typeface="Helvetica" pitchFamily="34" charset="-122"/>
                  <a:cs typeface="Helvetica" pitchFamily="34" charset="-120"/>
                </a:rPr>
                <a:t>Why Now</a:t>
              </a:r>
              <a:endParaRPr lang="en-US" sz="17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371637" y="3523259"/>
              <a:ext cx="3362858" cy="7679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200" dirty="0"/>
                <a:t>“In the Know” — </a:t>
              </a:r>
              <a:r>
                <a:rPr lang="en-US" altLang="zh-CN" sz="1200" dirty="0"/>
                <a:t>the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brand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awareness</a:t>
              </a:r>
              <a:r>
                <a:rPr lang="zh-CN" altLang="en-US" sz="1200" dirty="0"/>
                <a:t> </a:t>
              </a:r>
              <a:r>
                <a:rPr lang="en-US" sz="1200" dirty="0"/>
                <a:t>PM </a:t>
              </a:r>
              <a:r>
                <a:rPr lang="en-US" altLang="zh-CN" sz="1200" dirty="0"/>
                <a:t>is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leveraging.</a:t>
              </a:r>
            </a:p>
            <a:p>
              <a:r>
                <a:rPr lang="en-US" sz="1200" dirty="0"/>
                <a:t>Bring my content, growth, and </a:t>
              </a:r>
              <a:r>
                <a:rPr lang="en-US" altLang="zh-CN" sz="1200" dirty="0"/>
                <a:t>social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media</a:t>
              </a:r>
              <a:r>
                <a:rPr lang="en-US" sz="1200" dirty="0"/>
                <a:t> experience</a:t>
              </a:r>
              <a:r>
                <a:rPr lang="zh-CN" altLang="en-US" sz="1200" dirty="0"/>
                <a:t> </a:t>
              </a:r>
              <a:r>
                <a:rPr lang="en-US" altLang="zh-CN" sz="1200" dirty="0"/>
                <a:t>here.</a:t>
              </a:r>
              <a:endParaRPr lang="en-US" sz="12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6528101" y="354192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Built end-to-end AI agent for Global Product Marketing team </a:t>
            </a:r>
          </a:p>
          <a:p>
            <a:pPr marL="0" indent="0">
              <a:buNone/>
            </a:pPr>
            <a:r>
              <a:rPr lang="en-US" sz="1200" dirty="0"/>
              <a:t>Cut routine competitive-research time by ~70% </a:t>
            </a:r>
          </a:p>
          <a:p>
            <a:pPr marL="0" indent="0">
              <a:buNone/>
            </a:pPr>
            <a:r>
              <a:rPr lang="en-US" sz="1200" dirty="0"/>
              <a:t>Ramped on semiconductor-equipment domain from scratch </a:t>
            </a:r>
          </a:p>
          <a:p>
            <a:pPr marL="0" indent="0">
              <a:buNone/>
            </a:pPr>
            <a:r>
              <a:rPr lang="en-US" sz="1200" dirty="0"/>
              <a:t>Cross-functional with IT, Marketing, and leadership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14882" y="3243896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Competitive</a:t>
            </a:r>
            <a:r>
              <a:rPr lang="zh-CN" alt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Intelligent</a:t>
            </a: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AI</a:t>
            </a:r>
            <a:r>
              <a:rPr lang="zh-CN" alt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</a:t>
            </a:r>
            <a:r>
              <a:rPr lang="en-US" sz="17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14882" y="3003388"/>
            <a:ext cx="440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2026.01</a:t>
            </a:r>
            <a:r>
              <a:rPr lang="zh-CN" altLang="en-US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–</a:t>
            </a:r>
            <a:r>
              <a:rPr lang="zh-CN" altLang="en-US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2026.05</a:t>
            </a:r>
            <a:r>
              <a:rPr lang="en-US" sz="10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Lam Research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2 · STRATEGIC HOOK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delivery isn't one national market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it's 44 city-level battles, played with Uber's two-brand portfolio.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404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 food delivery · 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~$80B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order value · third-party platforms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329184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 national share · 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4069080"/>
            <a:ext cx="891540" cy="201168"/>
          </a:xfrm>
          <a:prstGeom prst="rect">
            <a:avLst/>
          </a:prstGeom>
          <a:solidFill>
            <a:srgbClr val="FF300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223260" y="3977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(Eats + PM)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617720"/>
            <a:ext cx="329184" cy="201168"/>
          </a:xfrm>
          <a:prstGeom prst="rect">
            <a:avLst/>
          </a:prstGeom>
          <a:solidFill>
            <a:srgbClr val="048A4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2660904" y="4526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 b="1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5166360"/>
            <a:ext cx="150876" cy="201168"/>
          </a:xfrm>
          <a:prstGeom prst="rect">
            <a:avLst/>
          </a:prstGeom>
          <a:solidFill>
            <a:srgbClr val="FF80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2482596" y="5074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1896" y="5950825"/>
            <a:ext cx="3399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Bloomberg Second Measure / Earnest Analytics / Statista, 2023.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691640"/>
            <a:ext cx="41148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800600" y="19202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 US metros · Uber </a:t>
            </a:r>
            <a:r>
              <a:rPr lang="en-US" altLang="zh-CN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ombined </a:t>
            </a:r>
            <a:r>
              <a:rPr lang="en-US" altLang="zh-CN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gross</a:t>
            </a:r>
            <a:r>
              <a:rPr lang="zh-CN" alt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124767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depth = Uber (Eats + PM) gross bookings</a:t>
            </a:r>
            <a:endParaRPr lang="en-US" sz="1100" dirty="0"/>
          </a:p>
        </p:txBody>
      </p:sp>
      <p:pic>
        <p:nvPicPr>
          <p:cNvPr id="25" name="Image 0" descr="/sessions/nice-eloquent-noether/mnt/outputs/hex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2697480"/>
            <a:ext cx="3749040" cy="25603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5029200" y="5277600"/>
            <a:ext cx="84582" cy="16459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Shape 24"/>
          <p:cNvSpPr/>
          <p:nvPr/>
        </p:nvSpPr>
        <p:spPr>
          <a:xfrm>
            <a:off x="5109210" y="5277600"/>
            <a:ext cx="84582" cy="164592"/>
          </a:xfrm>
          <a:prstGeom prst="rect">
            <a:avLst/>
          </a:prstGeom>
          <a:solidFill>
            <a:srgbClr val="EAECE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Shape 25"/>
          <p:cNvSpPr/>
          <p:nvPr/>
        </p:nvSpPr>
        <p:spPr>
          <a:xfrm>
            <a:off x="5189220" y="5277600"/>
            <a:ext cx="84582" cy="164592"/>
          </a:xfrm>
          <a:prstGeom prst="rect">
            <a:avLst/>
          </a:prstGeom>
          <a:solidFill>
            <a:srgbClr val="E4E8E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9" name="Shape 26"/>
          <p:cNvSpPr/>
          <p:nvPr/>
        </p:nvSpPr>
        <p:spPr>
          <a:xfrm>
            <a:off x="5269230" y="5277600"/>
            <a:ext cx="84582" cy="164592"/>
          </a:xfrm>
          <a:prstGeom prst="rect">
            <a:avLst/>
          </a:prstGeom>
          <a:solidFill>
            <a:srgbClr val="DEE4E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Shape 27"/>
          <p:cNvSpPr/>
          <p:nvPr/>
        </p:nvSpPr>
        <p:spPr>
          <a:xfrm>
            <a:off x="5349240" y="5277600"/>
            <a:ext cx="84582" cy="164592"/>
          </a:xfrm>
          <a:prstGeom prst="rect">
            <a:avLst/>
          </a:prstGeom>
          <a:solidFill>
            <a:srgbClr val="D8DFD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1" name="Shape 28"/>
          <p:cNvSpPr/>
          <p:nvPr/>
        </p:nvSpPr>
        <p:spPr>
          <a:xfrm>
            <a:off x="5429250" y="5277600"/>
            <a:ext cx="84582" cy="164592"/>
          </a:xfrm>
          <a:prstGeom prst="rect">
            <a:avLst/>
          </a:prstGeom>
          <a:solidFill>
            <a:srgbClr val="D3DBD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2" name="Shape 29"/>
          <p:cNvSpPr/>
          <p:nvPr/>
        </p:nvSpPr>
        <p:spPr>
          <a:xfrm>
            <a:off x="5509260" y="5277600"/>
            <a:ext cx="84582" cy="164592"/>
          </a:xfrm>
          <a:prstGeom prst="rect">
            <a:avLst/>
          </a:prstGeom>
          <a:solidFill>
            <a:srgbClr val="CDD7D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Shape 30"/>
          <p:cNvSpPr/>
          <p:nvPr/>
        </p:nvSpPr>
        <p:spPr>
          <a:xfrm>
            <a:off x="5589270" y="5277600"/>
            <a:ext cx="84582" cy="164592"/>
          </a:xfrm>
          <a:prstGeom prst="rect">
            <a:avLst/>
          </a:prstGeom>
          <a:solidFill>
            <a:srgbClr val="C7D3C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Shape 31"/>
          <p:cNvSpPr/>
          <p:nvPr/>
        </p:nvSpPr>
        <p:spPr>
          <a:xfrm>
            <a:off x="5669280" y="5277600"/>
            <a:ext cx="84582" cy="164592"/>
          </a:xfrm>
          <a:prstGeom prst="rect">
            <a:avLst/>
          </a:prstGeom>
          <a:solidFill>
            <a:srgbClr val="C1CFC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Shape 32"/>
          <p:cNvSpPr/>
          <p:nvPr/>
        </p:nvSpPr>
        <p:spPr>
          <a:xfrm>
            <a:off x="5749290" y="5277600"/>
            <a:ext cx="84582" cy="164592"/>
          </a:xfrm>
          <a:prstGeom prst="rect">
            <a:avLst/>
          </a:prstGeom>
          <a:solidFill>
            <a:srgbClr val="BBCBC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6" name="Shape 33"/>
          <p:cNvSpPr/>
          <p:nvPr/>
        </p:nvSpPr>
        <p:spPr>
          <a:xfrm>
            <a:off x="5829300" y="5277600"/>
            <a:ext cx="84582" cy="164592"/>
          </a:xfrm>
          <a:prstGeom prst="rect">
            <a:avLst/>
          </a:prstGeom>
          <a:solidFill>
            <a:srgbClr val="B5C7BD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Shape 34"/>
          <p:cNvSpPr/>
          <p:nvPr/>
        </p:nvSpPr>
        <p:spPr>
          <a:xfrm>
            <a:off x="5909310" y="5277600"/>
            <a:ext cx="84582" cy="164592"/>
          </a:xfrm>
          <a:prstGeom prst="rect">
            <a:avLst/>
          </a:prstGeom>
          <a:solidFill>
            <a:srgbClr val="AFC3B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8" name="Shape 35"/>
          <p:cNvSpPr/>
          <p:nvPr/>
        </p:nvSpPr>
        <p:spPr>
          <a:xfrm>
            <a:off x="5989320" y="5277600"/>
            <a:ext cx="84582" cy="164592"/>
          </a:xfrm>
          <a:prstGeom prst="rect">
            <a:avLst/>
          </a:prstGeom>
          <a:solidFill>
            <a:srgbClr val="A9BEB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Shape 36"/>
          <p:cNvSpPr/>
          <p:nvPr/>
        </p:nvSpPr>
        <p:spPr>
          <a:xfrm>
            <a:off x="6069330" y="5277600"/>
            <a:ext cx="84582" cy="164592"/>
          </a:xfrm>
          <a:prstGeom prst="rect">
            <a:avLst/>
          </a:prstGeom>
          <a:solidFill>
            <a:srgbClr val="A3BAA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Shape 37"/>
          <p:cNvSpPr/>
          <p:nvPr/>
        </p:nvSpPr>
        <p:spPr>
          <a:xfrm>
            <a:off x="6149340" y="5277600"/>
            <a:ext cx="84582" cy="164592"/>
          </a:xfrm>
          <a:prstGeom prst="rect">
            <a:avLst/>
          </a:prstGeom>
          <a:solidFill>
            <a:srgbClr val="9DB6A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1" name="Shape 38"/>
          <p:cNvSpPr/>
          <p:nvPr/>
        </p:nvSpPr>
        <p:spPr>
          <a:xfrm>
            <a:off x="6229350" y="5277600"/>
            <a:ext cx="84582" cy="164592"/>
          </a:xfrm>
          <a:prstGeom prst="rect">
            <a:avLst/>
          </a:prstGeom>
          <a:solidFill>
            <a:srgbClr val="98B2A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2" name="Shape 39"/>
          <p:cNvSpPr/>
          <p:nvPr/>
        </p:nvSpPr>
        <p:spPr>
          <a:xfrm>
            <a:off x="6309360" y="5277600"/>
            <a:ext cx="84582" cy="164592"/>
          </a:xfrm>
          <a:prstGeom prst="rect">
            <a:avLst/>
          </a:prstGeom>
          <a:solidFill>
            <a:srgbClr val="92AE9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3" name="Shape 40"/>
          <p:cNvSpPr/>
          <p:nvPr/>
        </p:nvSpPr>
        <p:spPr>
          <a:xfrm>
            <a:off x="6389370" y="5277600"/>
            <a:ext cx="84582" cy="164592"/>
          </a:xfrm>
          <a:prstGeom prst="rect">
            <a:avLst/>
          </a:prstGeom>
          <a:solidFill>
            <a:srgbClr val="8CAA9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4" name="Shape 41"/>
          <p:cNvSpPr/>
          <p:nvPr/>
        </p:nvSpPr>
        <p:spPr>
          <a:xfrm>
            <a:off x="6469380" y="5277600"/>
            <a:ext cx="84582" cy="164592"/>
          </a:xfrm>
          <a:prstGeom prst="rect">
            <a:avLst/>
          </a:prstGeom>
          <a:solidFill>
            <a:srgbClr val="86A69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Shape 42"/>
          <p:cNvSpPr/>
          <p:nvPr/>
        </p:nvSpPr>
        <p:spPr>
          <a:xfrm>
            <a:off x="6549390" y="5277600"/>
            <a:ext cx="84582" cy="164592"/>
          </a:xfrm>
          <a:prstGeom prst="rect">
            <a:avLst/>
          </a:prstGeom>
          <a:solidFill>
            <a:srgbClr val="80A29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6" name="Shape 43"/>
          <p:cNvSpPr/>
          <p:nvPr/>
        </p:nvSpPr>
        <p:spPr>
          <a:xfrm>
            <a:off x="6629400" y="5277600"/>
            <a:ext cx="84582" cy="164592"/>
          </a:xfrm>
          <a:prstGeom prst="rect">
            <a:avLst/>
          </a:prstGeom>
          <a:solidFill>
            <a:srgbClr val="7A9D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7" name="Shape 44"/>
          <p:cNvSpPr/>
          <p:nvPr/>
        </p:nvSpPr>
        <p:spPr>
          <a:xfrm>
            <a:off x="6709410" y="5277600"/>
            <a:ext cx="84582" cy="164592"/>
          </a:xfrm>
          <a:prstGeom prst="rect">
            <a:avLst/>
          </a:prstGeom>
          <a:solidFill>
            <a:srgbClr val="749985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8" name="Shape 45"/>
          <p:cNvSpPr/>
          <p:nvPr/>
        </p:nvSpPr>
        <p:spPr>
          <a:xfrm>
            <a:off x="6789420" y="5277600"/>
            <a:ext cx="84582" cy="164592"/>
          </a:xfrm>
          <a:prstGeom prst="rect">
            <a:avLst/>
          </a:prstGeom>
          <a:solidFill>
            <a:srgbClr val="6E958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9" name="Shape 46"/>
          <p:cNvSpPr/>
          <p:nvPr/>
        </p:nvSpPr>
        <p:spPr>
          <a:xfrm>
            <a:off x="6869430" y="5277600"/>
            <a:ext cx="84582" cy="164592"/>
          </a:xfrm>
          <a:prstGeom prst="rect">
            <a:avLst/>
          </a:prstGeom>
          <a:solidFill>
            <a:srgbClr val="68917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0" name="Shape 47"/>
          <p:cNvSpPr/>
          <p:nvPr/>
        </p:nvSpPr>
        <p:spPr>
          <a:xfrm>
            <a:off x="6949440" y="5277600"/>
            <a:ext cx="84582" cy="164592"/>
          </a:xfrm>
          <a:prstGeom prst="rect">
            <a:avLst/>
          </a:prstGeom>
          <a:solidFill>
            <a:srgbClr val="628D7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1" name="Shape 48"/>
          <p:cNvSpPr/>
          <p:nvPr/>
        </p:nvSpPr>
        <p:spPr>
          <a:xfrm>
            <a:off x="7029450" y="5277600"/>
            <a:ext cx="84582" cy="164592"/>
          </a:xfrm>
          <a:prstGeom prst="rect">
            <a:avLst/>
          </a:prstGeom>
          <a:solidFill>
            <a:srgbClr val="5D8971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2" name="Shape 49"/>
          <p:cNvSpPr/>
          <p:nvPr/>
        </p:nvSpPr>
        <p:spPr>
          <a:xfrm>
            <a:off x="7109460" y="5277600"/>
            <a:ext cx="84582" cy="164592"/>
          </a:xfrm>
          <a:prstGeom prst="rect">
            <a:avLst/>
          </a:prstGeom>
          <a:solidFill>
            <a:srgbClr val="57856C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3" name="Shape 50"/>
          <p:cNvSpPr/>
          <p:nvPr/>
        </p:nvSpPr>
        <p:spPr>
          <a:xfrm>
            <a:off x="7189470" y="5277600"/>
            <a:ext cx="84582" cy="164592"/>
          </a:xfrm>
          <a:prstGeom prst="rect">
            <a:avLst/>
          </a:prstGeom>
          <a:solidFill>
            <a:srgbClr val="518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4" name="Shape 51"/>
          <p:cNvSpPr/>
          <p:nvPr/>
        </p:nvSpPr>
        <p:spPr>
          <a:xfrm>
            <a:off x="7269480" y="5277600"/>
            <a:ext cx="84582" cy="164592"/>
          </a:xfrm>
          <a:prstGeom prst="rect">
            <a:avLst/>
          </a:prstGeom>
          <a:solidFill>
            <a:srgbClr val="4B7C6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5" name="Shape 52"/>
          <p:cNvSpPr/>
          <p:nvPr/>
        </p:nvSpPr>
        <p:spPr>
          <a:xfrm>
            <a:off x="7349490" y="5277600"/>
            <a:ext cx="84582" cy="164592"/>
          </a:xfrm>
          <a:prstGeom prst="rect">
            <a:avLst/>
          </a:prstGeom>
          <a:solidFill>
            <a:srgbClr val="45785D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6" name="Shape 53"/>
          <p:cNvSpPr/>
          <p:nvPr/>
        </p:nvSpPr>
        <p:spPr>
          <a:xfrm>
            <a:off x="7429500" y="5277600"/>
            <a:ext cx="84582" cy="164592"/>
          </a:xfrm>
          <a:prstGeom prst="rect">
            <a:avLst/>
          </a:prstGeom>
          <a:solidFill>
            <a:srgbClr val="3F745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7" name="Shape 54"/>
          <p:cNvSpPr/>
          <p:nvPr/>
        </p:nvSpPr>
        <p:spPr>
          <a:xfrm>
            <a:off x="7509510" y="5277600"/>
            <a:ext cx="84582" cy="164592"/>
          </a:xfrm>
          <a:prstGeom prst="rect">
            <a:avLst/>
          </a:prstGeom>
          <a:solidFill>
            <a:srgbClr val="39705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8" name="Shape 55"/>
          <p:cNvSpPr/>
          <p:nvPr/>
        </p:nvSpPr>
        <p:spPr>
          <a:xfrm>
            <a:off x="7589520" y="5277600"/>
            <a:ext cx="84582" cy="164592"/>
          </a:xfrm>
          <a:prstGeom prst="rect">
            <a:avLst/>
          </a:prstGeom>
          <a:solidFill>
            <a:srgbClr val="336C4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59" name="Shape 56"/>
          <p:cNvSpPr/>
          <p:nvPr/>
        </p:nvSpPr>
        <p:spPr>
          <a:xfrm>
            <a:off x="7669530" y="5277600"/>
            <a:ext cx="84582" cy="164592"/>
          </a:xfrm>
          <a:prstGeom prst="rect">
            <a:avLst/>
          </a:prstGeom>
          <a:solidFill>
            <a:srgbClr val="2D684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0" name="Shape 57"/>
          <p:cNvSpPr/>
          <p:nvPr/>
        </p:nvSpPr>
        <p:spPr>
          <a:xfrm>
            <a:off x="7749540" y="5277600"/>
            <a:ext cx="84582" cy="164592"/>
          </a:xfrm>
          <a:prstGeom prst="rect">
            <a:avLst/>
          </a:prstGeom>
          <a:solidFill>
            <a:srgbClr val="276443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1" name="Shape 58"/>
          <p:cNvSpPr/>
          <p:nvPr/>
        </p:nvSpPr>
        <p:spPr>
          <a:xfrm>
            <a:off x="7829550" y="5277600"/>
            <a:ext cx="84582" cy="164592"/>
          </a:xfrm>
          <a:prstGeom prst="rect">
            <a:avLst/>
          </a:prstGeom>
          <a:solidFill>
            <a:srgbClr val="22603E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2" name="Shape 59"/>
          <p:cNvSpPr/>
          <p:nvPr/>
        </p:nvSpPr>
        <p:spPr>
          <a:xfrm>
            <a:off x="7909560" y="5277600"/>
            <a:ext cx="84582" cy="164592"/>
          </a:xfrm>
          <a:prstGeom prst="rect">
            <a:avLst/>
          </a:prstGeom>
          <a:solidFill>
            <a:srgbClr val="1C5B3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3" name="Shape 60"/>
          <p:cNvSpPr/>
          <p:nvPr/>
        </p:nvSpPr>
        <p:spPr>
          <a:xfrm>
            <a:off x="7989570" y="5277600"/>
            <a:ext cx="84582" cy="164592"/>
          </a:xfrm>
          <a:prstGeom prst="rect">
            <a:avLst/>
          </a:prstGeom>
          <a:solidFill>
            <a:srgbClr val="16573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4" name="Shape 61"/>
          <p:cNvSpPr/>
          <p:nvPr/>
        </p:nvSpPr>
        <p:spPr>
          <a:xfrm>
            <a:off x="8069580" y="5277600"/>
            <a:ext cx="84582" cy="164592"/>
          </a:xfrm>
          <a:prstGeom prst="rect">
            <a:avLst/>
          </a:prstGeom>
          <a:solidFill>
            <a:srgbClr val="10532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5" name="Shape 62"/>
          <p:cNvSpPr/>
          <p:nvPr/>
        </p:nvSpPr>
        <p:spPr>
          <a:xfrm>
            <a:off x="8149590" y="5277600"/>
            <a:ext cx="84582" cy="164592"/>
          </a:xfrm>
          <a:prstGeom prst="rect">
            <a:avLst/>
          </a:prstGeom>
          <a:solidFill>
            <a:srgbClr val="0A4F2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6" name="Text 63"/>
          <p:cNvSpPr/>
          <p:nvPr/>
        </p:nvSpPr>
        <p:spPr>
          <a:xfrm>
            <a:off x="4754880" y="547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~$20K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6309360" y="547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~$320K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7863840" y="5478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~$2.8M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754880" y="5661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city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309360" y="5661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7863840" y="56616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city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4765562" y="597368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dataset (single-month sample, 2023).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8869680" y="1691640"/>
            <a:ext cx="277337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4" name="Text 71"/>
          <p:cNvSpPr/>
          <p:nvPr/>
        </p:nvSpPr>
        <p:spPr>
          <a:xfrm>
            <a:off x="9052560" y="192024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Today's three moves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9098280" y="2598420"/>
            <a:ext cx="685800" cy="6858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7" name="Text 74"/>
          <p:cNvSpPr/>
          <p:nvPr/>
        </p:nvSpPr>
        <p:spPr>
          <a:xfrm>
            <a:off x="9098280" y="25984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2800" dirty="0"/>
          </a:p>
        </p:txBody>
      </p:sp>
      <p:sp>
        <p:nvSpPr>
          <p:cNvPr id="78" name="Text 75"/>
          <p:cNvSpPr/>
          <p:nvPr/>
        </p:nvSpPr>
        <p:spPr>
          <a:xfrm>
            <a:off x="9921240" y="259842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</a:t>
            </a:r>
            <a:endParaRPr lang="en-US" sz="1800" dirty="0"/>
          </a:p>
        </p:txBody>
      </p:sp>
      <p:sp>
        <p:nvSpPr>
          <p:cNvPr id="79" name="Text 76"/>
          <p:cNvSpPr/>
          <p:nvPr/>
        </p:nvSpPr>
        <p:spPr>
          <a:xfrm>
            <a:off x="9921240" y="296418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Diagnose city health — how Eats and PM each grow.</a:t>
            </a:r>
          </a:p>
        </p:txBody>
      </p:sp>
      <p:sp>
        <p:nvSpPr>
          <p:cNvPr id="80" name="Shape 77"/>
          <p:cNvSpPr/>
          <p:nvPr/>
        </p:nvSpPr>
        <p:spPr>
          <a:xfrm>
            <a:off x="9098280" y="3741420"/>
            <a:ext cx="685800" cy="6858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1" name="Text 78"/>
          <p:cNvSpPr/>
          <p:nvPr/>
        </p:nvSpPr>
        <p:spPr>
          <a:xfrm>
            <a:off x="9098280" y="37414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2800" dirty="0"/>
          </a:p>
        </p:txBody>
      </p:sp>
      <p:sp>
        <p:nvSpPr>
          <p:cNvPr id="82" name="Text 79"/>
          <p:cNvSpPr/>
          <p:nvPr/>
        </p:nvSpPr>
        <p:spPr>
          <a:xfrm>
            <a:off x="9921240" y="374142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Move</a:t>
            </a:r>
            <a:endParaRPr lang="en-US" sz="1800" dirty="0"/>
          </a:p>
        </p:txBody>
      </p:sp>
      <p:sp>
        <p:nvSpPr>
          <p:cNvPr id="83" name="Text 80"/>
          <p:cNvSpPr/>
          <p:nvPr/>
        </p:nvSpPr>
        <p:spPr>
          <a:xfrm>
            <a:off x="9921241" y="4107180"/>
            <a:ext cx="15846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An Eats × PM retention pilot in LA</a:t>
            </a:r>
            <a:r>
              <a:rPr lang="en-US" altLang="zh-CN" sz="1100" dirty="0"/>
              <a:t>.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9098280" y="4884420"/>
            <a:ext cx="685800" cy="6858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5" name="Text 82"/>
          <p:cNvSpPr/>
          <p:nvPr/>
        </p:nvSpPr>
        <p:spPr>
          <a:xfrm>
            <a:off x="9098280" y="48844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2800" dirty="0"/>
          </a:p>
        </p:txBody>
      </p:sp>
      <p:sp>
        <p:nvSpPr>
          <p:cNvPr id="86" name="Text 83"/>
          <p:cNvSpPr/>
          <p:nvPr/>
        </p:nvSpPr>
        <p:spPr>
          <a:xfrm>
            <a:off x="9921240" y="488442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Multiply</a:t>
            </a:r>
            <a:endParaRPr lang="en-US" sz="1800" dirty="0"/>
          </a:p>
        </p:txBody>
      </p:sp>
      <p:sp>
        <p:nvSpPr>
          <p:cNvPr id="87" name="Text 84"/>
          <p:cNvSpPr/>
          <p:nvPr/>
        </p:nvSpPr>
        <p:spPr>
          <a:xfrm>
            <a:off x="9921240" y="5224272"/>
            <a:ext cx="1584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/>
              <a:t>Uber One LTV — a cross-category bundle.</a:t>
            </a:r>
            <a:endParaRPr lang="en-US" sz="1100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60C348D1-9109-D11E-F462-0D4C589637E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022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AE8FA1EB-F92F-8BD4-3FD9-D64671312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843" y="1008818"/>
            <a:ext cx="10207352" cy="55204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3 · MAP — CITY HEALTH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 — read each city by how Eats and PM each grow</a:t>
            </a:r>
            <a:endParaRPr lang="en-US" sz="26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0FEFE28-6AD5-6C4F-27D8-621ACA0B82BA}"/>
              </a:ext>
            </a:extLst>
          </p:cNvPr>
          <p:cNvSpPr/>
          <p:nvPr/>
        </p:nvSpPr>
        <p:spPr>
          <a:xfrm>
            <a:off x="10066360" y="1615112"/>
            <a:ext cx="831805" cy="28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cities</a:t>
            </a:r>
            <a:endParaRPr lang="en-US" sz="16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C0210747-9351-C5D1-2775-D887A2BACB76}"/>
              </a:ext>
            </a:extLst>
          </p:cNvPr>
          <p:cNvSpPr/>
          <p:nvPr/>
        </p:nvSpPr>
        <p:spPr>
          <a:xfrm>
            <a:off x="9935126" y="5474727"/>
            <a:ext cx="919294" cy="28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cities</a:t>
            </a:r>
            <a:endParaRPr lang="en-US" sz="16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DF3125A-A603-E0AD-B200-0256797E657E}"/>
              </a:ext>
            </a:extLst>
          </p:cNvPr>
          <p:cNvSpPr/>
          <p:nvPr/>
        </p:nvSpPr>
        <p:spPr>
          <a:xfrm>
            <a:off x="1888068" y="1625427"/>
            <a:ext cx="919294" cy="28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cities</a:t>
            </a:r>
            <a:endParaRPr lang="en-US" sz="16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A2670D9-0E4E-0AE8-0643-44C89A6BB96E}"/>
              </a:ext>
            </a:extLst>
          </p:cNvPr>
          <p:cNvSpPr/>
          <p:nvPr/>
        </p:nvSpPr>
        <p:spPr>
          <a:xfrm>
            <a:off x="1888068" y="5474726"/>
            <a:ext cx="919294" cy="28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6332" y="1159811"/>
            <a:ext cx="10142607" cy="23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food-delivery industry baseline ~11% YoY </a:t>
            </a: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(Bloomberg Second Measure).</a:t>
            </a:r>
            <a:r>
              <a:rPr lang="zh-CN" alt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zh-CN" alt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altLang="zh-CN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</a:t>
            </a:r>
            <a:r>
              <a:rPr lang="zh-CN" alt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lang="zh-CN" alt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zh-CN" alt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r>
              <a:rPr lang="zh-CN" alt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r>
              <a:rPr 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39" y="164592"/>
            <a:ext cx="6777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3 · MAP — WHY PM EARNS ITS PLACE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Eats and PM aren't the same brand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Hypothesis: PM is a differentiator capturing users, occasions, and merchants UE structurally cannot.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4573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82288" y="2211404"/>
            <a:ext cx="2357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pull in a price-sensitive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delivery users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multi-home</a:t>
            </a:r>
            <a:r>
              <a:rPr lang="zh-CN" alt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(CivicScience 2023)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UE users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 DD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(Earnest Analytics 2023)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is one of the few brand-pull platforms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2978" y="1691640"/>
            <a:ext cx="354573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597298" y="1965960"/>
            <a:ext cx="640080" cy="64008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59729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28818" y="196596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20532" y="2235466"/>
            <a:ext cx="25856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the Know" — premium merchant mix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7298" y="2971800"/>
            <a:ext cx="3088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r>
              <a:rPr lang="en-US" altLang="zh-CN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r>
              <a:rPr lang="zh-CN" alt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r>
              <a:rPr lang="zh-CN" alt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UE 79%</a:t>
            </a: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zh-CN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AOV:</a:t>
            </a:r>
            <a:r>
              <a:rPr lang="zh-CN" alt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$32.57 vs UE $28.99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(+12%)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more constrained by chain Plus/Premium commission tiers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users describe it in "premium" terms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7317" y="1691640"/>
            <a:ext cx="354573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8371637" y="1965960"/>
            <a:ext cx="640080" cy="64008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8371637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03157" y="1965960"/>
            <a:ext cx="2357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Occasions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11717" y="2230654"/>
            <a:ext cx="2814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Late-night, alcohol, "Anything"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71637" y="2971800"/>
            <a:ext cx="29970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LA-origin brand with strong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ecosystem</a:t>
            </a:r>
            <a:endParaRPr lang="en-US" sz="12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PM‘s marketing has owned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late-night, alcohol, and “Anything</a:t>
            </a:r>
            <a:r>
              <a:rPr lang="zh-CN" alt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has the</a:t>
            </a:r>
            <a:r>
              <a:rPr lang="zh-CN" alt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but no equivalent social tone and user mindset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64058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dataset (SMB / AOV / GB) · CivicScience 2023 · Earnest Analytics 2023 · PM brand history + social listening.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034280"/>
            <a:ext cx="11094415" cy="9424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777240" y="51714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C16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Caviar parallel — DoorDash kept its premium-curated brand separate for 5+ years post-acquisition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59" y="54229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urban-premium markets · no fast food, no grocery · only 4+ star Yelp restaurants · Michelin / Zagat / Infatuation partnerships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7284" y="614183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i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600" b="1" i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1+1&gt;2 portfolio logic applies — PM isn't a supplement to UE, it's a niche asset with a distinct user profile.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3 · MAP — DIM PLAYBOOK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 playbook — Eats × PM gets a different action in each tier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5144" y="999656"/>
            <a:ext cx="4924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= </a:t>
            </a:r>
            <a:r>
              <a:rPr lang="en-US" altLang="zh-CN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% of Uber US food delivery</a:t>
            </a:r>
            <a:r>
              <a:rPr lang="zh-CN" alt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(GB-weighted, 2023)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5144" y="1241508"/>
            <a:ext cx="10848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logic: 20% = PM is strong locally. 5% = below this, PM presence is too low to justify dedicated retention spend.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091672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737360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10916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73152" cy="10515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13232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22199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share ≥ 20%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combined YoY ≥ +11%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221992"/>
            <a:ext cx="6428232" cy="54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is a local stronghold and the city is healthy</a:t>
            </a:r>
            <a:r>
              <a:rPr lang="en-US" altLang="zh-CN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brands invest to protect PM's identity and watch for chain encroachment from DD.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0916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3152" cy="10515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713232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32735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YoY &lt; +11%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PM share ≥ 5%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273552"/>
            <a:ext cx="6428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1+1&gt;2 priority tier</a:t>
            </a:r>
            <a:r>
              <a:rPr lang="en-US" altLang="zh-CN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run the retention pilot.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uses brand-pull + curated supply to retain at-risk users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recovers convenience-driven volume. 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10916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73152" cy="1051560"/>
          </a:xfrm>
          <a:prstGeom prst="rect">
            <a:avLst/>
          </a:prstGeom>
          <a:solidFill>
            <a:srgbClr val="B07C0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713232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7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" y="4709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cities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43251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share 5–20%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combined YoY ≥ +11%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4325112"/>
            <a:ext cx="6428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operations, no new retention spend.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PM share trend (move to Defend if ≥ 20%, Migrate if &lt; 5%).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test markets for tactics that scale to Investigate.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916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73152" cy="1051560"/>
          </a:xfrm>
          <a:prstGeom prst="rect">
            <a:avLst/>
          </a:prstGeom>
          <a:solidFill>
            <a:srgbClr val="546E7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713232" y="5349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46E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Migrate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cities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77440" y="537667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share &lt; 5%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5376672"/>
            <a:ext cx="6428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UE-led growth; consolidate PM operations.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of dedicated PM retention not justified at this presence level.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370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Per-city tier assignment + bubble chart in the interactive dashboard →</a:t>
            </a:r>
            <a:endParaRPr lang="en-US" sz="1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4 · MOVE — THE METRIC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Move the metric — PM Active Eater pool retention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Hypothesis: AE retention is the upstream lever — moving it lifts the rest.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0350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822960" y="1844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r>
              <a:rPr lang="zh-CN" alt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Eater</a:t>
            </a: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retention</a:t>
            </a:r>
            <a:r>
              <a:rPr lang="zh-CN" alt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shaped by 3 levers: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5660" y="20985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AE retention </a:t>
            </a: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lever)  ·  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→ AE conversion</a:t>
            </a: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(early retention)  ·  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acquisition</a:t>
            </a: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(top-of-funnel)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548640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user-base YoY — June 2022 → June 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Eaters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06600" y="3227832"/>
            <a:ext cx="2372563" cy="2194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C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52315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</a:t>
            </a:r>
            <a:r>
              <a:rPr lang="en-US" altLang="zh-CN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</a:t>
            </a: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r>
              <a:rPr lang="en-US" altLang="zh-CN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05181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/ </a:t>
            </a:r>
            <a:r>
              <a:rPr lang="en-US" sz="12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35890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Eaters</a:t>
            </a:r>
            <a:endParaRPr lang="en-US" sz="1300" b="1" dirty="0"/>
          </a:p>
        </p:txBody>
      </p:sp>
      <p:sp>
        <p:nvSpPr>
          <p:cNvPr id="16" name="Shape 14"/>
          <p:cNvSpPr/>
          <p:nvPr/>
        </p:nvSpPr>
        <p:spPr>
          <a:xfrm>
            <a:off x="2006600" y="3753612"/>
            <a:ext cx="1851965" cy="2194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931717" y="35890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-2</a:t>
            </a:r>
            <a:r>
              <a:rPr lang="en-US" altLang="zh-CN" sz="13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r>
              <a:rPr lang="en-US" sz="13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r>
              <a:rPr lang="en-US" altLang="zh-CN" sz="13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r>
              <a:rPr lang="en-US" sz="13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%</a:t>
            </a:r>
            <a:endParaRPr lang="en-US" sz="1300" b="1" dirty="0"/>
          </a:p>
        </p:txBody>
      </p:sp>
      <p:sp>
        <p:nvSpPr>
          <p:cNvPr id="18" name="Text 16"/>
          <p:cNvSpPr/>
          <p:nvPr/>
        </p:nvSpPr>
        <p:spPr>
          <a:xfrm>
            <a:off x="5061668" y="360193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</a:t>
            </a:r>
            <a:r>
              <a:rPr lang="zh-CN" alt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altLang="zh-CN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/ </a:t>
            </a:r>
            <a:r>
              <a:rPr lang="en-US" sz="1200" b="1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426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AE retention is the primary lever: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5948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base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13.5K AE/mo vs 1.1K NE/mo (12× larger absolute lift potential)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playbook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retention mechanics scale city-to-city; acquisition needs per-city redesign</a:t>
            </a:r>
            <a:endParaRPr lang="en-US" sz="14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into LTV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retained users order for years; we capture the multi-year LTV, not just a single order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12280" y="1691640"/>
            <a:ext cx="483077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7040880" y="186944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Spend gap — PM vs 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42824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Existing-eater incentive (% of GB)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794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2885440"/>
            <a:ext cx="2496926" cy="182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10086446" y="2794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3.92%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205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296920"/>
            <a:ext cx="1796258" cy="18288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9385778" y="3205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16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2.82%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75412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 per Active-Eater-month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119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43800" y="4211320"/>
            <a:ext cx="2579733" cy="182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4" name="Text 32"/>
          <p:cNvSpPr/>
          <p:nvPr/>
        </p:nvSpPr>
        <p:spPr>
          <a:xfrm>
            <a:off x="10169253" y="4119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$5.67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531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43800" y="4622800"/>
            <a:ext cx="1742571" cy="18288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9332091" y="4531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16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$3.83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5156200"/>
            <a:ext cx="4373575" cy="685800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7132319" y="5232400"/>
            <a:ext cx="4190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spends +48% more per user, yet bleeds </a:t>
            </a:r>
            <a:r>
              <a:rPr lang="en-US" altLang="zh-CN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more</a:t>
            </a:r>
            <a:r>
              <a:rPr lang="en-US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</a:p>
          <a:p>
            <a:pPr marL="0" indent="0">
              <a:buNone/>
            </a:pPr>
            <a:endParaRPr lang="en-US" sz="1200" b="1" i="1" dirty="0">
              <a:solidFill>
                <a:srgbClr val="048A47"/>
              </a:solidFill>
              <a:latin typeface="Helvetica" pitchFamily="34" charset="0"/>
              <a:ea typeface="Helvetica" pitchFamily="34" charset="-122"/>
              <a:cs typeface="Helvetica" pitchFamily="34" charset="-120"/>
            </a:endParaRPr>
          </a:p>
          <a:p>
            <a:pPr marL="0" indent="0">
              <a:buNone/>
            </a:pPr>
            <a:r>
              <a:rPr lang="en-US" altLang="zh-CN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Hypothesis:</a:t>
            </a:r>
            <a:r>
              <a:rPr lang="zh-CN" altLang="en-US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Segmentation is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4 · MOVE — SIZE OF PRIZE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Size of prize — start in LA, scale to Investigate cluster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39" y="1390844"/>
            <a:ext cx="3840480" cy="4145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822959" y="16194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 PM annualized decline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59" y="1939484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~$1.4</a:t>
            </a:r>
            <a:r>
              <a:rPr lang="en-US" altLang="zh-CN" sz="6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r>
              <a:rPr lang="en-US" sz="6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22959" y="30824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of LA PM Gross Bookings at risk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59" y="3585404"/>
            <a:ext cx="3291840" cy="9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22959" y="37225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59" y="3996884"/>
            <a:ext cx="3291840" cy="95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run-rate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2022 PM GB: $1,020K / month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2023 PM GB:   $903K / month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gap: $118K  × 12 = $1.42M / year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1999" y="1390844"/>
            <a:ext cx="7071055" cy="41458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800599" y="1619444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Scenarios — LA pilot (Y1 GB defended)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19" y="20766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92239" y="2116186"/>
            <a:ext cx="2426474" cy="24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Assumption</a:t>
            </a:r>
            <a:r>
              <a:rPr lang="zh-CN" alt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endParaRPr lang="en-US" altLang="zh-CN" sz="900" b="1" dirty="0">
              <a:solidFill>
                <a:srgbClr val="666666"/>
              </a:solidFill>
              <a:latin typeface="Helvetica" pitchFamily="34" charset="0"/>
              <a:ea typeface="Helvetica" pitchFamily="34" charset="-122"/>
              <a:cs typeface="Helvetica" pitchFamily="34" charset="-120"/>
            </a:endParaRPr>
          </a:p>
          <a:p>
            <a:pPr marL="0" indent="0">
              <a:buNone/>
            </a:pPr>
            <a:r>
              <a:rPr lang="en-US" altLang="zh-CN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(Industry</a:t>
            </a:r>
            <a:r>
              <a:rPr lang="zh-CN" alt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benchmark:</a:t>
            </a:r>
            <a:r>
              <a:rPr lang="zh-CN" alt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</a:t>
            </a:r>
            <a:r>
              <a:rPr lang="zh-CN" alt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1-4</a:t>
            </a:r>
            <a:r>
              <a:rPr lang="zh-CN" alt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39" y="20766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Y1 GB defended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39" y="20766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AE pool saved (Y1)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19" y="23966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39" y="23966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+1pp retention · 41% arrest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39" y="23966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$568K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49839" y="23966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~510 AE saved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79" y="2991044"/>
            <a:ext cx="6705295" cy="594360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4846319" y="30367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39" y="30367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+2pp retention · 87% arrest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39" y="303676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$1.21M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49839" y="30367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~1,234 AE saved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19" y="36768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Optimistic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39" y="36768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+3pp retention · full arrest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39" y="36768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$1.42M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49839" y="36768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~1,427 AE saved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79" y="4344864"/>
            <a:ext cx="6705295" cy="102616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4892039" y="4408364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Investigate</a:t>
            </a:r>
            <a:r>
              <a:rPr lang="zh-CN" altLang="en-US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</a:t>
            </a:r>
            <a:r>
              <a:rPr lang="en-US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r>
              <a:rPr lang="en-US" sz="1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cale-up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0139" y="4771240"/>
            <a:ext cx="6430975" cy="46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</a:t>
            </a:r>
            <a:r>
              <a:rPr lang="en-US" altLang="zh-CN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 cities) =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$3.1M / year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annualized PM GB decline.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Base +2pp retention cluster-wide: </a:t>
            </a: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$2.7M Y1 GB defended</a:t>
            </a:r>
            <a:r>
              <a:rPr lang="en-US" altLang="zh-CN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~2,700 AE saved</a:t>
            </a:r>
            <a:endParaRPr lang="en-US" sz="14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CAF58237-4A0A-7919-5FC7-E686EF5F5C3B}"/>
              </a:ext>
            </a:extLst>
          </p:cNvPr>
          <p:cNvSpPr/>
          <p:nvPr/>
        </p:nvSpPr>
        <p:spPr>
          <a:xfrm>
            <a:off x="822959" y="574238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context: </a:t>
            </a:r>
            <a:r>
              <a:rPr lang="en-US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DoorDash 2022 = −$1.4B net loss; Uber Eats 2022 first EBITDA-positive at 5% margin. </a:t>
            </a:r>
          </a:p>
          <a:p>
            <a:r>
              <a:rPr lang="en-US" b="1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is the short-term defense. The 3-year LTV view across the ~2,700 saved AE is the real strategic prize</a:t>
            </a:r>
            <a:r>
              <a:rPr lang="en-US" altLang="zh-CN" b="1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5 · MULTIPLY — LTV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LTV — the compounding prize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52880"/>
            <a:ext cx="5486400" cy="4236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77240" y="1635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DECISION-DRIVEN LTV — 3 SCOPES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6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NARROW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8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standalone NetRev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13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$114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2915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ROI floor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373120"/>
            <a:ext cx="5212080" cy="960120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777240" y="341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73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UE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zh-CN" alt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Rides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46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</a:t>
            </a:r>
            <a:r>
              <a:rPr lang="en-US" altLang="zh-CN" sz="2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26080" y="396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engine value-tier scoring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47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SUBSCRIBER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790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member with frequency lift × cross-platform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51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~$2</a:t>
            </a:r>
            <a:r>
              <a:rPr lang="en-US" altLang="zh-CN" sz="2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26080" y="50190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Sub-conversion economics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452880"/>
            <a:ext cx="5333695" cy="14173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6309360" y="1452880"/>
            <a:ext cx="91440" cy="1417320"/>
          </a:xfrm>
          <a:prstGeom prst="rect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6537960" y="1546860"/>
            <a:ext cx="5105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6C16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UBER ONE —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59" y="1873166"/>
            <a:ext cx="4876495" cy="93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bundle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 + Rides + PM in one membership.</a:t>
            </a:r>
            <a:endParaRPr lang="en-US" sz="1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DashPass cannot match this — it's delivery only.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3025649"/>
            <a:ext cx="5333695" cy="1031578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537960" y="3025649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~12%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001000" y="2979929"/>
            <a:ext cx="3413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sub penetration today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(case data: $273K sub rev / 222K user-mo / $9.99)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58" y="3692821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DashPass ~40% on DD 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0423" y="3654299"/>
            <a:ext cx="3184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~3× headroom for sub-driven LTV uplift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4150360"/>
            <a:ext cx="5333695" cy="1539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6537959" y="4229100"/>
            <a:ext cx="4876495" cy="1399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LTV to </a:t>
            </a:r>
            <a:r>
              <a:rPr lang="en-US" altLang="zh-CN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r>
              <a:rPr lang="zh-CN" alt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‘</a:t>
            </a:r>
            <a:r>
              <a:rPr lang="en-US" altLang="zh-CN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r>
              <a:rPr lang="zh-CN" alt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endParaRPr lang="en-US" sz="1400" b="1" dirty="0">
              <a:solidFill>
                <a:srgbClr val="06C1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~2,700 AE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r>
              <a:rPr lang="en-US" altLang="zh-CN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cross-platform LTV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r>
              <a:rPr lang="en-US" altLang="zh-CN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altLang="zh-CN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</a:t>
            </a:r>
            <a:r>
              <a:rPr lang="zh-CN" alt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uplift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20% Uber One conversion: 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</a:t>
            </a:r>
            <a:r>
              <a:rPr lang="en-US" altLang="zh-CN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r>
              <a:rPr lang="en-US" sz="16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K+</a:t>
            </a:r>
            <a:endParaRPr lang="en-US" sz="1400" dirty="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DF250F61-212A-4261-7A1A-5FB74A72A79D}"/>
              </a:ext>
            </a:extLst>
          </p:cNvPr>
          <p:cNvSpPr/>
          <p:nvPr/>
        </p:nvSpPr>
        <p:spPr>
          <a:xfrm>
            <a:off x="548640" y="605409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Full methodology &amp; formulas</a:t>
            </a:r>
            <a:r>
              <a:rPr lang="zh-CN" altLang="en-US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en-US" altLang="zh-CN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in</a:t>
            </a:r>
            <a:r>
              <a:rPr lang="zh-CN" altLang="en-US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en-US" altLang="zh-CN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the</a:t>
            </a:r>
            <a:r>
              <a:rPr lang="en-US" sz="1600" b="1" i="1" dirty="0">
                <a:solidFill>
                  <a:srgbClr val="999999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en-US" sz="16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LTV</a:t>
            </a:r>
            <a:r>
              <a:rPr lang="zh-CN" altLang="en-US" sz="16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</a:t>
            </a:r>
            <a:r>
              <a:rPr lang="en-US" altLang="zh-CN" sz="16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calculator</a:t>
            </a:r>
            <a:r>
              <a:rPr lang="zh-CN" altLang="en-US" sz="16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 </a:t>
            </a:r>
            <a:r>
              <a:rPr lang="en-US" sz="1600" b="1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→</a:t>
            </a:r>
            <a:endParaRPr lang="en-US"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38" y="164592"/>
            <a:ext cx="92049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</a:t>
            </a:r>
            <a:r>
              <a:rPr lang="en-US" altLang="zh-CN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· RETENTION</a:t>
            </a:r>
            <a:r>
              <a:rPr lang="zh-CN" alt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altLang="zh-CN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 engine in LA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Hypothesis: Precision matching of user signals to promo design lifts PM AE retention by ≥2pp in 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83355"/>
            <a:ext cx="11094415" cy="294292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911860" y="1778935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matching engine — daily batch (co-designed with Marketing team)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223435"/>
            <a:ext cx="4114800" cy="1477103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097280" y="236059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 signals (input)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680635"/>
            <a:ext cx="3749040" cy="83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tier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historical value (90-day NetRev × forward potential)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recency × frequency-drop × engagement signals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r>
              <a:rPr lang="zh-CN" altLang="en-US" sz="1300" b="1" dirty="0"/>
              <a:t>   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time, merchant preference, AOV pattern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21526" y="265484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7162495" y="2223435"/>
            <a:ext cx="4114800" cy="1477103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7345375" y="236059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 design (output)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45375" y="2680635"/>
            <a:ext cx="3749040" cy="830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cash credit · % off · free delivery · curated · sub conversion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calibrated to user value × churn urgency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send window matched to user's order pattern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99246"/>
            <a:ext cx="10362896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 sz="2000"/>
          </a:p>
        </p:txBody>
      </p:sp>
      <p:sp>
        <p:nvSpPr>
          <p:cNvPr id="16" name="Text 14"/>
          <p:cNvSpPr/>
          <p:nvPr/>
        </p:nvSpPr>
        <p:spPr>
          <a:xfrm>
            <a:off x="1005840" y="3958682"/>
            <a:ext cx="10271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randomized holdout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measures pure incremental lift, validates the hypothesis.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1860" y="470194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Success metrics (trackable in 60-90 days):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118901"/>
            <a:ext cx="128016" cy="12801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05840" y="5073181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lift (T vs 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470221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+2pp 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38218" y="5118901"/>
            <a:ext cx="128016" cy="12801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4521098" y="5073181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1098" y="5470221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signal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53477" y="5118901"/>
            <a:ext cx="128016" cy="12801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8036357" y="5073181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GB defended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36357" y="5470221"/>
            <a:ext cx="32409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proxy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419420"/>
            <a:ext cx="11094415" cy="1070279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685799" y="5515941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launch: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Align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(hypothesis validation · stakeholder alignment · tier rules + promo library v1)  ·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3-7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Stand Up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(A/B test w/ Analytics · sign-off · infra build)  ·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</a:t>
            </a:r>
            <a:r>
              <a:rPr lang="zh-CN" alt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Monitor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(soft → full launch · weekly recalibration · </a:t>
            </a:r>
            <a:r>
              <a:rPr lang="en-US" altLang="zh-CN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zh-CN" alt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164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6 · METRICS TO INSTRUMENT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we need to instrument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signals (user-level) + LTV validation (placeholders → measurements).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1004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10048" cy="502920"/>
          </a:xfrm>
          <a:prstGeom prst="rect">
            <a:avLst/>
          </a:prstGeom>
          <a:solidFill>
            <a:srgbClr val="048A4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Category A · Engine signals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532380"/>
            <a:ext cx="457200" cy="457200"/>
          </a:xfrm>
          <a:prstGeom prst="ellipse">
            <a:avLst/>
          </a:prstGeom>
          <a:solidFill>
            <a:srgbClr val="048A4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822960" y="2532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532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Recency signal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852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days_since_last_PM_order, per user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126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churn risk score in tier classifier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75380"/>
            <a:ext cx="457200" cy="457200"/>
          </a:xfrm>
          <a:prstGeom prst="ellipse">
            <a:avLst/>
          </a:prstGeom>
          <a:solidFill>
            <a:srgbClr val="048A4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822960" y="3675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75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Frequency-drop signal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995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(orders_30d / orders_prior_30d) − 1, per user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269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"slipping" — drives At-Risk tier flag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818380"/>
            <a:ext cx="457200" cy="457200"/>
          </a:xfrm>
          <a:prstGeom prst="ellipse">
            <a:avLst/>
          </a:prstGeom>
          <a:solidFill>
            <a:srgbClr val="048A47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822960" y="4818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818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Behavioral fingerprint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138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 × merchant_category mix (last 90d)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412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promo timing × type matching (BQ dim.)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91640"/>
            <a:ext cx="5410048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6233008" y="1691640"/>
            <a:ext cx="5410048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6461608" y="17830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Category B · LTV validation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07328" y="25323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6507328" y="2532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01688" y="2532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Cross-platform NetRev per user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01688" y="2852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sum(NR) for user_id across PM/UE/Rides/Uber One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01688" y="3126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$148 cross-platform LTV (currently estimated)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07328" y="36753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6507328" y="3675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01688" y="3675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 frequency lift (PM-specific)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01688" y="3995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(orders/mo, sub) ÷ (orders/mo, non-sub control)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1688" y="4269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1.8× DD benchmark (borrowed proxy)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07328" y="48183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6507328" y="4818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101688" y="4818380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Causal retention lift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1688" y="5138420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retention(treatment) − retention(holdout)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01688" y="541274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Replaces: 91% retention proxy (aggregate, not user-level)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217920"/>
            <a:ext cx="11094415" cy="411480"/>
          </a:xfrm>
          <a:prstGeom prst="rect">
            <a:avLst/>
          </a:prstGeom>
          <a:solidFill>
            <a:srgbClr val="D4F4E2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45" name="Text 43"/>
          <p:cNvSpPr/>
          <p:nvPr/>
        </p:nvSpPr>
        <p:spPr>
          <a:xfrm>
            <a:off x="685800" y="6263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48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6 pullable from internal event data + user-level join. Together: takes retention engine from estimate to measurable production system.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2024</Words>
  <Application>Microsoft Macintosh PowerPoint</Application>
  <PresentationFormat>Widescreen</PresentationFormat>
  <Paragraphs>324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Google Sans</vt:lpstr>
      <vt:lpstr>Arial</vt:lpstr>
      <vt:lpstr>Calibri</vt:lpstr>
      <vt:lpstr>Helvetica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Postmates Strategy &amp; Operations — 2026 Intern Case</dc:title>
  <dc:subject>PptxGenJS Presentation</dc:subject>
  <dc:creator>Lizhong Wang</dc:creator>
  <cp:lastModifiedBy>Lizhong Wang</cp:lastModifiedBy>
  <cp:revision>15</cp:revision>
  <dcterms:created xsi:type="dcterms:W3CDTF">2026-05-12T10:03:46Z</dcterms:created>
  <dcterms:modified xsi:type="dcterms:W3CDTF">2026-05-14T01:36:45Z</dcterms:modified>
</cp:coreProperties>
</file>